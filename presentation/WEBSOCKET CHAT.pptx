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4B42"/>
    <a:srgbClr val="54AEFF"/>
    <a:srgbClr val="847970"/>
    <a:srgbClr val="0B8CDB"/>
    <a:srgbClr val="5C97EE"/>
    <a:srgbClr val="7BABF1"/>
    <a:srgbClr val="56A3F8"/>
    <a:srgbClr val="5DBEF9"/>
    <a:srgbClr val="328FF6"/>
    <a:srgbClr val="7A6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847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3CA8-54E5-4D03-8E99-9DE35FC3A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69" y="64395"/>
            <a:ext cx="8791575" cy="775252"/>
          </a:xfrm>
        </p:spPr>
        <p:txBody>
          <a:bodyPr anchor="ctr"/>
          <a:lstStyle/>
          <a:p>
            <a:r>
              <a:rPr lang="en-US" dirty="0"/>
              <a:t>WEBSOCKET CHAT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28717-AC02-4A93-B51F-D37FD58DE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277" y="753772"/>
            <a:ext cx="8791575" cy="1655762"/>
          </a:xfrm>
          <a:solidFill>
            <a:srgbClr val="544B42"/>
          </a:solidFill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rgbClr val="54AEFF"/>
                </a:solidFill>
              </a:rPr>
              <a:t>Websockets</a:t>
            </a:r>
            <a:r>
              <a:rPr lang="en-US" dirty="0">
                <a:solidFill>
                  <a:srgbClr val="54AEFF"/>
                </a:solidFill>
              </a:rPr>
              <a:t> let the server and client communicate whenever they have data to send, without the client making http requests. </a:t>
            </a:r>
          </a:p>
          <a:p>
            <a:endParaRPr lang="en-US" dirty="0">
              <a:solidFill>
                <a:srgbClr val="54AEFF"/>
              </a:solidFill>
            </a:endParaRPr>
          </a:p>
          <a:p>
            <a:r>
              <a:rPr lang="en-US" dirty="0">
                <a:solidFill>
                  <a:srgbClr val="54AEFF"/>
                </a:solidFill>
              </a:rPr>
              <a:t>It can be a lot faster…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64FCF2A-1388-4706-86C7-3BB0000D1A2B}"/>
              </a:ext>
            </a:extLst>
          </p:cNvPr>
          <p:cNvSpPr txBox="1">
            <a:spLocks/>
          </p:cNvSpPr>
          <p:nvPr/>
        </p:nvSpPr>
        <p:spPr>
          <a:xfrm>
            <a:off x="5437735" y="4758491"/>
            <a:ext cx="6507858" cy="1344135"/>
          </a:xfrm>
          <a:prstGeom prst="rect">
            <a:avLst/>
          </a:prstGeom>
          <a:solidFill>
            <a:srgbClr val="544B42"/>
          </a:solidFill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cap="none" dirty="0">
                <a:solidFill>
                  <a:srgbClr val="54AEFF"/>
                </a:solidFill>
              </a:rPr>
              <a:t>no HTTP request/response (after initial handshake)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cap="none" dirty="0">
                <a:solidFill>
                  <a:srgbClr val="54AEFF"/>
                </a:solidFill>
              </a:rPr>
              <a:t>full-duplex  -meaning: client or host can send data at any time, in both directions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cap="none" dirty="0">
              <a:solidFill>
                <a:srgbClr val="54AE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8B11C-E844-40E5-B963-0D13AE77A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10" y="2682992"/>
            <a:ext cx="4117624" cy="370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A6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3CA8-54E5-4D03-8E99-9DE35FC3A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43406"/>
            <a:ext cx="6382993" cy="794548"/>
          </a:xfrm>
        </p:spPr>
        <p:txBody>
          <a:bodyPr anchor="t">
            <a:normAutofit fontScale="90000"/>
          </a:bodyPr>
          <a:lstStyle/>
          <a:p>
            <a:r>
              <a:rPr lang="en-US" cap="none" dirty="0">
                <a:solidFill>
                  <a:srgbClr val="54AEFF"/>
                </a:solidFill>
              </a:rPr>
              <a:t>Technology Stack</a:t>
            </a:r>
            <a:r>
              <a:rPr lang="en-US" cap="none" dirty="0"/>
              <a:t>:</a:t>
            </a:r>
            <a:br>
              <a:rPr lang="en-US" cap="none" dirty="0"/>
            </a:br>
            <a:br>
              <a:rPr lang="en-US" dirty="0">
                <a:latin typeface="Lucida Sans" panose="020B0602030504020204" pitchFamily="34" charset="0"/>
              </a:rPr>
            </a:br>
            <a:r>
              <a:rPr lang="en-US" dirty="0">
                <a:latin typeface="Lucida Sans" panose="020B0602030504020204" pitchFamily="34" charset="0"/>
              </a:rPr>
              <a:t>	</a:t>
            </a:r>
            <a:br>
              <a:rPr lang="en-US" dirty="0">
                <a:latin typeface="Lucida Sans" panose="020B0602030504020204" pitchFamily="34" charset="0"/>
              </a:rPr>
            </a:br>
            <a:r>
              <a:rPr lang="en-US" dirty="0">
                <a:latin typeface="Lucida Sans" panose="020B0602030504020204" pitchFamily="34" charset="0"/>
              </a:rPr>
              <a:t>	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57FD3D-E8C5-48C6-951E-722AAFAB1A1B}"/>
              </a:ext>
            </a:extLst>
          </p:cNvPr>
          <p:cNvSpPr txBox="1">
            <a:spLocks/>
          </p:cNvSpPr>
          <p:nvPr/>
        </p:nvSpPr>
        <p:spPr>
          <a:xfrm>
            <a:off x="596349" y="1037955"/>
            <a:ext cx="10575234" cy="4150272"/>
          </a:xfrm>
          <a:prstGeom prst="rect">
            <a:avLst/>
          </a:prstGeom>
          <a:solidFill>
            <a:srgbClr val="544B42"/>
          </a:solidFill>
        </p:spPr>
        <p:txBody>
          <a:bodyPr vert="horz" wrap="square" lIns="182880" tIns="45720" rIns="27432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>
                <a:latin typeface="Lucida Sans" panose="020B0602030504020204" pitchFamily="34" charset="0"/>
              </a:rPr>
              <a:t>asynchronous Node.js (the server-side code)</a:t>
            </a: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endParaRPr lang="en-US" sz="100" cap="none" dirty="0">
              <a:latin typeface="Lucida Sans" panose="020B0602030504020204" pitchFamily="34" charset="0"/>
            </a:endParaRP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cap="none" dirty="0">
                <a:latin typeface="Lucida Sans" panose="020B0602030504020204" pitchFamily="34" charset="0"/>
              </a:rPr>
              <a:t>Heroku</a:t>
            </a: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cap="none" dirty="0" err="1">
                <a:latin typeface="Lucida Sans" panose="020B0602030504020204" pitchFamily="34" charset="0"/>
              </a:rPr>
              <a:t>websocket</a:t>
            </a:r>
            <a:endParaRPr lang="en-US" cap="none" dirty="0">
              <a:latin typeface="Lucida Sans" panose="020B0602030504020204" pitchFamily="34" charset="0"/>
            </a:endParaRP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Lucida Sans" panose="020B0602030504020204" pitchFamily="34" charset="0"/>
              </a:rPr>
              <a:t>es6 babel</a:t>
            </a: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endParaRPr lang="en-US" cap="none" dirty="0">
              <a:latin typeface="Lucida Sans" panose="020B0602030504020204" pitchFamily="34" charset="0"/>
            </a:endParaRPr>
          </a:p>
          <a:p>
            <a:pPr marL="342900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>
                <a:latin typeface="Lucida Sans" panose="020B0602030504020204" pitchFamily="34" charset="0"/>
              </a:rPr>
              <a:t>React.js (the front-end code)</a:t>
            </a: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Lucida Sans" panose="020B0602030504020204" pitchFamily="34" charset="0"/>
              </a:rPr>
              <a:t>React components form a page which updates CHANGES, rather than the entire DOM</a:t>
            </a: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endParaRPr lang="en-US" dirty="0">
              <a:latin typeface="Lucida Sans" panose="020B0602030504020204" pitchFamily="34" charset="0"/>
            </a:endParaRPr>
          </a:p>
          <a:p>
            <a:pPr marL="342900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>
                <a:latin typeface="Lucida Sans" panose="020B0602030504020204" pitchFamily="34" charset="0"/>
              </a:rPr>
              <a:t>Testing</a:t>
            </a: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Lucida Sans" panose="020B0602030504020204" pitchFamily="34" charset="0"/>
              </a:rPr>
              <a:t>Chai</a:t>
            </a: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cap="none" dirty="0">
                <a:latin typeface="Lucida Sans" panose="020B0602030504020204" pitchFamily="34" charset="0"/>
              </a:rPr>
              <a:t>Jasmine</a:t>
            </a: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dirty="0" err="1">
                <a:latin typeface="Lucida Sans" panose="020B0602030504020204" pitchFamily="34" charset="0"/>
              </a:rPr>
              <a:t>nyc</a:t>
            </a:r>
            <a:r>
              <a:rPr lang="en-US" dirty="0">
                <a:latin typeface="Lucida Sans" panose="020B0602030504020204" pitchFamily="34" charset="0"/>
              </a:rPr>
              <a:t>/Istanbul (provides test coverage information)</a:t>
            </a:r>
            <a:endParaRPr lang="en-US" cap="none" dirty="0">
              <a:latin typeface="Lucida Sans" panose="020B0602030504020204" pitchFamily="34" charset="0"/>
            </a:endParaRPr>
          </a:p>
          <a:p>
            <a:pPr marL="342900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endParaRPr lang="en-US" sz="2400" cap="none" dirty="0">
              <a:latin typeface="Lucida Sans" panose="020B0602030504020204" pitchFamily="34" charset="0"/>
            </a:endParaRPr>
          </a:p>
          <a:p>
            <a:pPr lvl="1">
              <a:buClr>
                <a:srgbClr val="54AEFF"/>
              </a:buClr>
            </a:pPr>
            <a:r>
              <a:rPr lang="en-US" sz="100" dirty="0" err="1">
                <a:latin typeface="Lucida Sans" panose="020B0602030504020204" pitchFamily="34" charset="0"/>
              </a:rPr>
              <a:t>sdf</a:t>
            </a:r>
            <a:endParaRPr lang="en-US" sz="100" cap="none" dirty="0">
              <a:latin typeface="Lucida Sans" panose="020B0602030504020204" pitchFamily="34" charset="0"/>
            </a:endParaRPr>
          </a:p>
          <a:p>
            <a:pPr marL="800100" lvl="1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endParaRPr lang="en-US" sz="100" cap="none" dirty="0">
              <a:latin typeface="Lucida Sans" panose="020B0602030504020204" pitchFamily="34" charset="0"/>
            </a:endParaRPr>
          </a:p>
          <a:p>
            <a:pPr marL="342900" indent="-342900">
              <a:buClr>
                <a:srgbClr val="54AEFF"/>
              </a:buClr>
              <a:buFont typeface="Arial" panose="020B0604020202020204" pitchFamily="34" charset="0"/>
              <a:buChar char="•"/>
            </a:pPr>
            <a:endParaRPr lang="en-US" sz="2400" cap="none" dirty="0"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919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A6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6039BC-4EDE-481E-B3F6-9FFA0A857254}"/>
              </a:ext>
            </a:extLst>
          </p:cNvPr>
          <p:cNvSpPr/>
          <p:nvPr/>
        </p:nvSpPr>
        <p:spPr>
          <a:xfrm>
            <a:off x="612844" y="3423277"/>
            <a:ext cx="11024680" cy="1655762"/>
          </a:xfrm>
          <a:prstGeom prst="rect">
            <a:avLst/>
          </a:prstGeom>
          <a:solidFill>
            <a:srgbClr val="544B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53CA8-54E5-4D03-8E99-9DE35FC3A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10078870" cy="2387600"/>
          </a:xfrm>
        </p:spPr>
        <p:txBody>
          <a:bodyPr/>
          <a:lstStyle/>
          <a:p>
            <a:r>
              <a:rPr lang="en-US" cap="none" dirty="0">
                <a:latin typeface="Lucida Sans" panose="020B0602030504020204" pitchFamily="34" charset="0"/>
              </a:rPr>
              <a:t>team</a:t>
            </a:r>
            <a:r>
              <a:rPr lang="en-US" dirty="0">
                <a:solidFill>
                  <a:srgbClr val="54AEFF"/>
                </a:solidFill>
                <a:latin typeface="Lucida Sans" panose="020B0602030504020204" pitchFamily="34" charset="0"/>
              </a:rPr>
              <a:t>:</a:t>
            </a:r>
            <a:br>
              <a:rPr lang="en-US" dirty="0">
                <a:latin typeface="Lucida Sans" panose="020B0602030504020204" pitchFamily="34" charset="0"/>
              </a:rPr>
            </a:br>
            <a:r>
              <a:rPr lang="en-US" dirty="0">
                <a:latin typeface="Lucida Sans" panose="020B0602030504020204" pitchFamily="34" charset="0"/>
              </a:rPr>
              <a:t>	</a:t>
            </a:r>
            <a:r>
              <a:rPr lang="en-US" dirty="0" err="1">
                <a:latin typeface="Lucida Sans" panose="020B0602030504020204" pitchFamily="34" charset="0"/>
              </a:rPr>
              <a:t>Irbe</a:t>
            </a:r>
            <a:r>
              <a:rPr lang="en-US" dirty="0">
                <a:latin typeface="Lucida Sans" panose="020B0602030504020204" pitchFamily="34" charset="0"/>
              </a:rPr>
              <a:t>, Jordan, Mathew, 									north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28717-AC02-4A93-B51F-D37FD58DE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738230"/>
            <a:ext cx="8791575" cy="1655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54AEFF"/>
                </a:solidFill>
              </a:rPr>
              <a:t>4 makers just making some shit. </a:t>
            </a:r>
          </a:p>
          <a:p>
            <a:r>
              <a:rPr lang="en-US" dirty="0">
                <a:solidFill>
                  <a:srgbClr val="54AEFF"/>
                </a:solidFill>
              </a:rPr>
              <a:t>					that’s how it is</a:t>
            </a:r>
            <a:r>
              <a:rPr lang="en-US" dirty="0">
                <a:solidFill>
                  <a:srgbClr val="0B8CD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660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A6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209F1C-BB1C-4598-BE2F-0538AB08C10C}"/>
              </a:ext>
            </a:extLst>
          </p:cNvPr>
          <p:cNvSpPr/>
          <p:nvPr/>
        </p:nvSpPr>
        <p:spPr>
          <a:xfrm>
            <a:off x="612844" y="3825990"/>
            <a:ext cx="10437776" cy="2629274"/>
          </a:xfrm>
          <a:prstGeom prst="rect">
            <a:avLst/>
          </a:prstGeom>
          <a:solidFill>
            <a:srgbClr val="544B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53CA8-54E5-4D03-8E99-9DE35FC3A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43405"/>
            <a:ext cx="3250053" cy="748815"/>
          </a:xfrm>
        </p:spPr>
        <p:txBody>
          <a:bodyPr anchor="t">
            <a:normAutofit fontScale="90000"/>
          </a:bodyPr>
          <a:lstStyle/>
          <a:p>
            <a:r>
              <a:rPr lang="en-US" cap="none" dirty="0"/>
              <a:t>goals</a:t>
            </a:r>
            <a:r>
              <a:rPr lang="en-US" cap="none" dirty="0">
                <a:solidFill>
                  <a:srgbClr val="54AEFF"/>
                </a:solidFill>
              </a:rPr>
              <a:t>:</a:t>
            </a:r>
            <a:br>
              <a:rPr lang="en-US" cap="none" dirty="0"/>
            </a:br>
            <a:br>
              <a:rPr lang="en-US" dirty="0">
                <a:latin typeface="Lucida Sans" panose="020B0602030504020204" pitchFamily="34" charset="0"/>
              </a:rPr>
            </a:br>
            <a:r>
              <a:rPr lang="en-US" dirty="0">
                <a:latin typeface="Lucida Sans" panose="020B0602030504020204" pitchFamily="34" charset="0"/>
              </a:rPr>
              <a:t>	</a:t>
            </a:r>
            <a:br>
              <a:rPr lang="en-US" dirty="0">
                <a:latin typeface="Lucida Sans" panose="020B0602030504020204" pitchFamily="34" charset="0"/>
              </a:rPr>
            </a:br>
            <a:r>
              <a:rPr lang="en-US" dirty="0">
                <a:latin typeface="Lucida Sans" panose="020B0602030504020204" pitchFamily="34" charset="0"/>
              </a:rPr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28717-AC02-4A93-B51F-D37FD58DE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962" y="4005522"/>
            <a:ext cx="8791575" cy="1655762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>
                <a:solidFill>
                  <a:srgbClr val="54AEFF"/>
                </a:solidFill>
              </a:rPr>
              <a:t>Process</a:t>
            </a:r>
            <a:r>
              <a:rPr lang="en-US" sz="7200" dirty="0">
                <a:solidFill>
                  <a:schemeClr val="tx1"/>
                </a:solidFill>
              </a:rPr>
              <a:t>:</a:t>
            </a:r>
            <a:endParaRPr lang="en-US" sz="7200" dirty="0">
              <a:solidFill>
                <a:srgbClr val="54AE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rgbClr val="54AEFF"/>
                </a:solidFill>
              </a:rPr>
              <a:t>research first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rgbClr val="54AEFF"/>
                </a:solidFill>
              </a:rPr>
              <a:t>test driven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rgbClr val="54AEFF"/>
                </a:solidFill>
              </a:rPr>
              <a:t>continuous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rgbClr val="54AEFF"/>
                </a:solidFill>
              </a:rPr>
              <a:t>much agile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200" dirty="0" err="1">
                <a:solidFill>
                  <a:srgbClr val="54AEFF"/>
                </a:solidFill>
              </a:rPr>
              <a:t>documentate</a:t>
            </a:r>
            <a:endParaRPr lang="en-US" sz="7200" dirty="0">
              <a:solidFill>
                <a:srgbClr val="54AE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54AEFF"/>
              </a:solidFill>
            </a:endParaRPr>
          </a:p>
          <a:p>
            <a:endParaRPr lang="en-US" dirty="0">
              <a:solidFill>
                <a:srgbClr val="54AE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039BC-4EDE-481E-B3F6-9FFA0A857254}"/>
              </a:ext>
            </a:extLst>
          </p:cNvPr>
          <p:cNvSpPr/>
          <p:nvPr/>
        </p:nvSpPr>
        <p:spPr>
          <a:xfrm>
            <a:off x="1204327" y="973200"/>
            <a:ext cx="10496145" cy="2629274"/>
          </a:xfrm>
          <a:prstGeom prst="rect">
            <a:avLst/>
          </a:prstGeom>
          <a:solidFill>
            <a:srgbClr val="544B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57FD3D-E8C5-48C6-951E-722AAFAB1A1B}"/>
              </a:ext>
            </a:extLst>
          </p:cNvPr>
          <p:cNvSpPr txBox="1">
            <a:spLocks/>
          </p:cNvSpPr>
          <p:nvPr/>
        </p:nvSpPr>
        <p:spPr>
          <a:xfrm>
            <a:off x="1322962" y="1524709"/>
            <a:ext cx="9727659" cy="482997"/>
          </a:xfrm>
          <a:prstGeom prst="rect">
            <a:avLst/>
          </a:prstGeom>
        </p:spPr>
        <p:txBody>
          <a:bodyPr vert="horz" wrap="square" lIns="0" tIns="45720" rIns="27432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/>
              <a:t>learn cutting-edge web technologies </a:t>
            </a:r>
            <a:br>
              <a:rPr lang="en-US" sz="1200" cap="none" dirty="0"/>
            </a:b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C652DDB-BBB0-47F4-97DF-7EDC77488742}"/>
              </a:ext>
            </a:extLst>
          </p:cNvPr>
          <p:cNvSpPr txBox="1">
            <a:spLocks/>
          </p:cNvSpPr>
          <p:nvPr/>
        </p:nvSpPr>
        <p:spPr>
          <a:xfrm>
            <a:off x="1322961" y="1906273"/>
            <a:ext cx="9727659" cy="482997"/>
          </a:xfrm>
          <a:prstGeom prst="rect">
            <a:avLst/>
          </a:prstGeom>
        </p:spPr>
        <p:txBody>
          <a:bodyPr vert="horz" wrap="square" lIns="0" tIns="45720" rIns="27432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/>
              <a:t>learn to use a </a:t>
            </a:r>
            <a:r>
              <a:rPr lang="en-US" sz="2400" cap="none" dirty="0" err="1"/>
              <a:t>websocket</a:t>
            </a:r>
            <a:r>
              <a:rPr lang="en-US" sz="2400" cap="none" dirty="0"/>
              <a:t> to transfer data client-to-host and host-to-client</a:t>
            </a:r>
            <a:br>
              <a:rPr lang="en-US" sz="1200" cap="none" dirty="0"/>
            </a:b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4631DA6-A03E-42E6-8214-BB62F615C3B5}"/>
              </a:ext>
            </a:extLst>
          </p:cNvPr>
          <p:cNvSpPr txBox="1">
            <a:spLocks/>
          </p:cNvSpPr>
          <p:nvPr/>
        </p:nvSpPr>
        <p:spPr>
          <a:xfrm>
            <a:off x="1322962" y="2287837"/>
            <a:ext cx="9727659" cy="482997"/>
          </a:xfrm>
          <a:prstGeom prst="rect">
            <a:avLst/>
          </a:prstGeom>
        </p:spPr>
        <p:txBody>
          <a:bodyPr vert="horz" wrap="square" lIns="0" tIns="45720" rIns="27432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/>
              <a:t>learn cutting-edge web technologies </a:t>
            </a:r>
            <a:br>
              <a:rPr lang="en-US" sz="1200" cap="none" dirty="0"/>
            </a:b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85822CC-2ED4-4C7F-89FE-6E4F3CC53119}"/>
              </a:ext>
            </a:extLst>
          </p:cNvPr>
          <p:cNvSpPr txBox="1">
            <a:spLocks/>
          </p:cNvSpPr>
          <p:nvPr/>
        </p:nvSpPr>
        <p:spPr>
          <a:xfrm>
            <a:off x="1322962" y="2669401"/>
            <a:ext cx="9727659" cy="482997"/>
          </a:xfrm>
          <a:prstGeom prst="rect">
            <a:avLst/>
          </a:prstGeom>
        </p:spPr>
        <p:txBody>
          <a:bodyPr vert="horz" wrap="square" lIns="0" tIns="45720" rIns="27432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/>
              <a:t>learn cutting-edge web technologies </a:t>
            </a:r>
            <a:br>
              <a:rPr lang="en-US" sz="1200" cap="none" dirty="0"/>
            </a:b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831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A6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3CA8-54E5-4D03-8E99-9DE35FC3A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43406"/>
            <a:ext cx="6382993" cy="794548"/>
          </a:xfrm>
        </p:spPr>
        <p:txBody>
          <a:bodyPr anchor="t">
            <a:normAutofit fontScale="90000"/>
          </a:bodyPr>
          <a:lstStyle/>
          <a:p>
            <a:r>
              <a:rPr lang="en-US" cap="none" dirty="0">
                <a:solidFill>
                  <a:srgbClr val="54AEFF"/>
                </a:solidFill>
              </a:rPr>
              <a:t>successes and challenges </a:t>
            </a:r>
            <a:r>
              <a:rPr lang="en-US" cap="none" dirty="0"/>
              <a:t>:</a:t>
            </a:r>
            <a:br>
              <a:rPr lang="en-US" cap="none" dirty="0"/>
            </a:br>
            <a:br>
              <a:rPr lang="en-US" dirty="0">
                <a:latin typeface="Lucida Sans" panose="020B0602030504020204" pitchFamily="34" charset="0"/>
              </a:rPr>
            </a:br>
            <a:r>
              <a:rPr lang="en-US" dirty="0">
                <a:latin typeface="Lucida Sans" panose="020B0602030504020204" pitchFamily="34" charset="0"/>
              </a:rPr>
              <a:t>	</a:t>
            </a:r>
            <a:br>
              <a:rPr lang="en-US" dirty="0">
                <a:latin typeface="Lucida Sans" panose="020B0602030504020204" pitchFamily="34" charset="0"/>
              </a:rPr>
            </a:br>
            <a:r>
              <a:rPr lang="en-US" dirty="0">
                <a:latin typeface="Lucida Sans" panose="020B0602030504020204" pitchFamily="34" charset="0"/>
              </a:rPr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28717-AC02-4A93-B51F-D37FD58DE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3672" y="3820299"/>
            <a:ext cx="8791575" cy="1655762"/>
          </a:xfrm>
          <a:solidFill>
            <a:srgbClr val="544B42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54AEFF"/>
                </a:solidFill>
              </a:rPr>
              <a:t>4 makers just making some shit.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54AEFF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57FD3D-E8C5-48C6-951E-722AAFAB1A1B}"/>
              </a:ext>
            </a:extLst>
          </p:cNvPr>
          <p:cNvSpPr txBox="1">
            <a:spLocks/>
          </p:cNvSpPr>
          <p:nvPr/>
        </p:nvSpPr>
        <p:spPr>
          <a:xfrm>
            <a:off x="566531" y="1037954"/>
            <a:ext cx="10575234" cy="1999747"/>
          </a:xfrm>
          <a:prstGeom prst="rect">
            <a:avLst/>
          </a:prstGeom>
          <a:solidFill>
            <a:srgbClr val="544B42"/>
          </a:solidFill>
        </p:spPr>
        <p:txBody>
          <a:bodyPr vert="horz" wrap="square" lIns="0" tIns="45720" rIns="27432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/>
              <a:t>learn cutting-edge web technologies –Yes, we did</a:t>
            </a:r>
          </a:p>
          <a:p>
            <a:pPr marL="228600" indent="-2286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/>
              <a:t>Continuous deployment –</a:t>
            </a:r>
            <a:r>
              <a:rPr lang="en-US" sz="1600" cap="none" dirty="0" err="1"/>
              <a:t>TravisCI</a:t>
            </a:r>
            <a:r>
              <a:rPr lang="en-US" sz="1600" cap="none" dirty="0"/>
              <a:t> helps ensure deployed version always works</a:t>
            </a:r>
          </a:p>
          <a:p>
            <a:pPr marL="228600" indent="-228600">
              <a:buClr>
                <a:srgbClr val="54AEFF"/>
              </a:buClr>
              <a:buFont typeface="Arial" panose="020B0604020202020204" pitchFamily="34" charset="0"/>
              <a:buChar char="•"/>
            </a:pPr>
            <a:r>
              <a:rPr lang="en-US" sz="2400" cap="none" dirty="0"/>
              <a:t>Good teamwork</a:t>
            </a:r>
          </a:p>
          <a:p>
            <a:pPr>
              <a:buClr>
                <a:srgbClr val="54AEFF"/>
              </a:buClr>
            </a:pPr>
            <a:br>
              <a:rPr lang="en-US" sz="1200" cap="none" dirty="0"/>
            </a:b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  <a:br>
              <a:rPr lang="en-US" sz="1200" dirty="0">
                <a:latin typeface="Lucida Sans" panose="020B0602030504020204" pitchFamily="34" charset="0"/>
              </a:rPr>
            </a:br>
            <a:r>
              <a:rPr lang="en-US" sz="1200" dirty="0">
                <a:latin typeface="Lucida Sans" panose="020B0602030504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18865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ustom 1">
      <a:dk1>
        <a:srgbClr val="746C6C"/>
      </a:dk1>
      <a:lt1>
        <a:srgbClr val="F5E8C3"/>
      </a:lt1>
      <a:dk2>
        <a:srgbClr val="252C36"/>
      </a:dk2>
      <a:lt2>
        <a:srgbClr val="249AC1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2599</TotalTime>
  <Words>185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Lucida Sans</vt:lpstr>
      <vt:lpstr>Trebuchet MS</vt:lpstr>
      <vt:lpstr>Tw Cen MT</vt:lpstr>
      <vt:lpstr>Circuit</vt:lpstr>
      <vt:lpstr>WEBSOCKET CHAT</vt:lpstr>
      <vt:lpstr>Technology Stack:     </vt:lpstr>
      <vt:lpstr>team:  Irbe, Jordan, Mathew,          north</vt:lpstr>
      <vt:lpstr>goals:     </vt:lpstr>
      <vt:lpstr>successes and challenges :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Brem</dc:creator>
  <cp:lastModifiedBy>Eric Brem</cp:lastModifiedBy>
  <cp:revision>18</cp:revision>
  <dcterms:created xsi:type="dcterms:W3CDTF">2018-06-05T15:34:17Z</dcterms:created>
  <dcterms:modified xsi:type="dcterms:W3CDTF">2018-06-07T10:53:55Z</dcterms:modified>
</cp:coreProperties>
</file>